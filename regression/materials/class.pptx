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embeddedFontLst>
    <p:embeddedFont>
      <p:font typeface="Inter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font" Target="fonts/rId29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850231"/>
            <a:ext cx="5715000" cy="14478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850231"/>
            <a:ext cx="5715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Концепции машинного обучения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3059906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Организация + регрессия </a:t>
            </a:r>
            <a:endParaRPr lang="en-US" sz="128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10100" y="609600"/>
            <a:ext cx="3924300" cy="3924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3863" y="176213"/>
            <a:ext cx="4676775" cy="47950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2252663"/>
            <a:ext cx="2324100" cy="457200"/>
          </a:xfrm>
          <a:prstGeom prst="rect">
            <a:avLst/>
          </a:prstGeom>
          <a:noFill/>
          <a:ln/>
        </p:spPr>
      </p:sp>
      <p:sp>
        <p:nvSpPr>
          <p:cNvPr id="5" name="Text 1"/>
          <p:cNvSpPr/>
          <p:nvPr/>
        </p:nvSpPr>
        <p:spPr>
          <a:xfrm>
            <a:off x="609600" y="2252663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 взаимодействия</a:t>
            </a:r>
            <a:endParaRPr lang="en-US" sz="1283" dirty="0"/>
          </a:p>
        </p:txBody>
      </p:sp>
      <p:sp>
        <p:nvSpPr>
          <p:cNvPr id="6" name="Text 2"/>
          <p:cNvSpPr/>
          <p:nvPr/>
        </p:nvSpPr>
        <p:spPr>
          <a:xfrm>
            <a:off x="609600" y="2557463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вопросы — в чат курса</a:t>
            </a:r>
            <a:endParaRPr lang="en-US" sz="855" dirty="0"/>
          </a:p>
        </p:txBody>
      </p:sp>
      <p:sp>
        <p:nvSpPr>
          <p:cNvPr id="7" name="Shape 3"/>
          <p:cNvSpPr/>
          <p:nvPr/>
        </p:nvSpPr>
        <p:spPr>
          <a:xfrm>
            <a:off x="609600" y="1128713"/>
            <a:ext cx="2324100" cy="457200"/>
          </a:xfrm>
          <a:prstGeom prst="rect">
            <a:avLst/>
          </a:prstGeom>
          <a:noFill/>
          <a:ln/>
        </p:spPr>
      </p:sp>
      <p:sp>
        <p:nvSpPr>
          <p:cNvPr id="8" name="Text 4"/>
          <p:cNvSpPr/>
          <p:nvPr/>
        </p:nvSpPr>
        <p:spPr>
          <a:xfrm>
            <a:off x="609600" y="1128713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Алина Игоревна</a:t>
            </a:r>
            <a:endParaRPr lang="en-US" sz="1283" dirty="0"/>
          </a:p>
        </p:txBody>
      </p:sp>
      <p:sp>
        <p:nvSpPr>
          <p:cNvPr id="9" name="Text 5"/>
          <p:cNvSpPr/>
          <p:nvPr/>
        </p:nvSpPr>
        <p:spPr>
          <a:xfrm>
            <a:off x="609600" y="1433513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я :)</a:t>
            </a:r>
            <a:endParaRPr lang="en-US" sz="855" dirty="0"/>
          </a:p>
        </p:txBody>
      </p:sp>
      <p:sp>
        <p:nvSpPr>
          <p:cNvPr id="10" name="Shape 6"/>
          <p:cNvSpPr/>
          <p:nvPr/>
        </p:nvSpPr>
        <p:spPr>
          <a:xfrm>
            <a:off x="609600" y="3376613"/>
            <a:ext cx="2324100" cy="609600"/>
          </a:xfrm>
          <a:prstGeom prst="rect">
            <a:avLst/>
          </a:prstGeom>
          <a:noFill/>
          <a:ln/>
        </p:spPr>
      </p:sp>
      <p:sp>
        <p:nvSpPr>
          <p:cNvPr id="11" name="Text 7"/>
          <p:cNvSpPr/>
          <p:nvPr/>
        </p:nvSpPr>
        <p:spPr>
          <a:xfrm>
            <a:off x="609600" y="3376613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парах</a:t>
            </a:r>
            <a:endParaRPr lang="en-US" sz="1283" dirty="0"/>
          </a:p>
        </p:txBody>
      </p:sp>
      <p:sp>
        <p:nvSpPr>
          <p:cNvPr id="12" name="Text 8"/>
          <p:cNvSpPr/>
          <p:nvPr/>
        </p:nvSpPr>
        <p:spPr>
          <a:xfrm>
            <a:off x="609600" y="3681413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Короткая теория, код, вопросы, разбор типичных ошибок </a:t>
            </a:r>
            <a:endParaRPr lang="en-US" sz="85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Организационные моменты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9600" y="2190750"/>
            <a:ext cx="1751409" cy="11430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09600" y="2190750"/>
            <a:ext cx="1751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Лабораторные + проект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9600" y="2724150"/>
            <a:ext cx="175140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часть результата по курсу, но доп плюсик можно получить за выполнение проекта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2665809" y="2185988"/>
            <a:ext cx="1751409" cy="7620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2665809" y="2185988"/>
            <a:ext cx="1751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Leaderboard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2665809" y="2490788"/>
            <a:ext cx="17514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Сравниваем качество решений в одинаковых условиях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>
            <a:off x="4722019" y="2185988"/>
            <a:ext cx="1751409" cy="6096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722019" y="2185988"/>
            <a:ext cx="1751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Ноутбук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4722019" y="2490788"/>
            <a:ext cx="17514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Сдаётся воспроизводимый Jupyter Notebook</a:t>
            </a:r>
            <a:endParaRPr lang="en-US" sz="855" dirty="0"/>
          </a:p>
        </p:txBody>
      </p:sp>
      <p:sp>
        <p:nvSpPr>
          <p:cNvPr id="12" name="Shape 10"/>
          <p:cNvSpPr/>
          <p:nvPr/>
        </p:nvSpPr>
        <p:spPr>
          <a:xfrm>
            <a:off x="6778228" y="2185988"/>
            <a:ext cx="1751409" cy="609600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6778228" y="2185988"/>
            <a:ext cx="1751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нейросетей</a:t>
            </a:r>
            <a:endParaRPr lang="en-US" sz="1283" dirty="0"/>
          </a:p>
        </p:txBody>
      </p:sp>
      <p:sp>
        <p:nvSpPr>
          <p:cNvPr id="14" name="Text 12"/>
          <p:cNvSpPr/>
          <p:nvPr/>
        </p:nvSpPr>
        <p:spPr>
          <a:xfrm>
            <a:off x="6778228" y="2490788"/>
            <a:ext cx="17514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Нейронные сети будут отдельным курсом</a:t>
            </a:r>
            <a:endParaRPr lang="en-US" sz="85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0750" y="1604963"/>
            <a:ext cx="1600200" cy="10287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2190750" y="160496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Классификация</a:t>
            </a:r>
            <a:endParaRPr lang="en-US" sz="1033" dirty="0"/>
          </a:p>
        </p:txBody>
      </p:sp>
      <p:sp>
        <p:nvSpPr>
          <p:cNvPr id="4" name="Text 2"/>
          <p:cNvSpPr/>
          <p:nvPr/>
        </p:nvSpPr>
        <p:spPr>
          <a:xfrm>
            <a:off x="2190750" y="18526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Tree • Random Forest • Gradient Boosting • SVM • KNN</a:t>
            </a:r>
            <a:endParaRPr lang="en-US" sz="85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90750" y="2366963"/>
            <a:ext cx="9525" cy="2762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53050" y="1604963"/>
            <a:ext cx="1600200" cy="1028700"/>
          </a:xfrm>
          <a:prstGeom prst="rect">
            <a:avLst/>
          </a:prstGeom>
          <a:noFill/>
          <a:ln/>
        </p:spPr>
      </p:sp>
      <p:sp>
        <p:nvSpPr>
          <p:cNvPr id="7" name="Text 4"/>
          <p:cNvSpPr/>
          <p:nvPr/>
        </p:nvSpPr>
        <p:spPr>
          <a:xfrm>
            <a:off x="5353050" y="160496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Байесовские сети</a:t>
            </a:r>
            <a:endParaRPr lang="en-US" sz="1033" dirty="0"/>
          </a:p>
        </p:txBody>
      </p:sp>
      <p:sp>
        <p:nvSpPr>
          <p:cNvPr id="8" name="Text 5"/>
          <p:cNvSpPr/>
          <p:nvPr/>
        </p:nvSpPr>
        <p:spPr>
          <a:xfrm>
            <a:off x="5353050" y="18526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only have a few milestones, just chop what you don’t need. </a:t>
            </a:r>
            <a:endParaRPr lang="en-US" sz="855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53050" y="2366963"/>
            <a:ext cx="9525" cy="27622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71900" y="2633663"/>
            <a:ext cx="1600200" cy="876300"/>
          </a:xfrm>
          <a:prstGeom prst="rect">
            <a:avLst/>
          </a:prstGeom>
          <a:noFill/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71900" y="2633663"/>
            <a:ext cx="9525" cy="2762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71900" y="29575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Гиперпараметры</a:t>
            </a:r>
            <a:endParaRPr lang="en-US" sz="1033" dirty="0"/>
          </a:p>
        </p:txBody>
      </p:sp>
      <p:sp>
        <p:nvSpPr>
          <p:cNvPr id="13" name="Text 8"/>
          <p:cNvSpPr/>
          <p:nvPr/>
        </p:nvSpPr>
        <p:spPr>
          <a:xfrm>
            <a:off x="3771900" y="3205163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Кросс-валидация • Grid Search • Random Search</a:t>
            </a:r>
            <a:endParaRPr lang="en-US" sz="855" dirty="0"/>
          </a:p>
        </p:txBody>
      </p:sp>
      <p:sp>
        <p:nvSpPr>
          <p:cNvPr id="14" name="Shape 9"/>
          <p:cNvSpPr/>
          <p:nvPr/>
        </p:nvSpPr>
        <p:spPr>
          <a:xfrm>
            <a:off x="6934200" y="2633663"/>
            <a:ext cx="1600200" cy="723900"/>
          </a:xfrm>
          <a:prstGeom prst="rect">
            <a:avLst/>
          </a:prstGeom>
          <a:noFill/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34200" y="2633663"/>
            <a:ext cx="9525" cy="2762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34200" y="29575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(по желанию)</a:t>
            </a:r>
            <a:endParaRPr lang="en-US" sz="1033" dirty="0"/>
          </a:p>
        </p:txBody>
      </p:sp>
      <p:sp>
        <p:nvSpPr>
          <p:cNvPr id="17" name="Text 11"/>
          <p:cNvSpPr/>
          <p:nvPr/>
        </p:nvSpPr>
        <p:spPr>
          <a:xfrm>
            <a:off x="6934200" y="3205163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 кейс</a:t>
            </a:r>
            <a:endParaRPr lang="en-US" sz="855" dirty="0"/>
          </a:p>
        </p:txBody>
      </p:sp>
      <p:sp>
        <p:nvSpPr>
          <p:cNvPr id="18" name="Shape 12"/>
          <p:cNvSpPr/>
          <p:nvPr/>
        </p:nvSpPr>
        <p:spPr>
          <a:xfrm>
            <a:off x="609600" y="2633663"/>
            <a:ext cx="1600200" cy="876300"/>
          </a:xfrm>
          <a:prstGeom prst="rect">
            <a:avLst/>
          </a:prstGeom>
          <a:noFill/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09600" y="2633663"/>
            <a:ext cx="9525" cy="2762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9600" y="29575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Регрессия</a:t>
            </a:r>
            <a:endParaRPr lang="en-US" sz="1033" dirty="0"/>
          </a:p>
        </p:txBody>
      </p:sp>
      <p:sp>
        <p:nvSpPr>
          <p:cNvPr id="21" name="Text 14"/>
          <p:cNvSpPr/>
          <p:nvPr/>
        </p:nvSpPr>
        <p:spPr>
          <a:xfrm>
            <a:off x="609600" y="3205163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Regression • Random Forest • Gradient Boosting</a:t>
            </a:r>
            <a:endParaRPr lang="en-US" sz="855" dirty="0"/>
          </a:p>
        </p:txBody>
      </p:sp>
      <p:sp>
        <p:nvSpPr>
          <p:cNvPr id="22" name="Text 15"/>
          <p:cNvSpPr/>
          <p:nvPr/>
        </p:nvSpPr>
        <p:spPr>
          <a:xfrm>
            <a:off x="609600" y="609600"/>
            <a:ext cx="7924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Программа курса</a:t>
            </a:r>
            <a:endParaRPr lang="en-US" sz="171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4363" y="2633662"/>
            <a:ext cx="7939087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228850"/>
            <a:ext cx="3143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вы получите к концу курса?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610100" y="666750"/>
            <a:ext cx="3238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Понимание базового ML-пайплайна: данные → модель → метрика → вывод.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Навык строить честный эксперимент без утечек между train и test.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 сравнения моделей с baseline и между собой.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Практику анализа feature importance и ошибок модели.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Понимание, как подбирать гиперпараметры и когда результату можно доверять.</a:t>
            </a:r>
            <a:endParaRPr lang="en-US" sz="128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90900" y="1724025"/>
            <a:ext cx="2324100" cy="60960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390900" y="17240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Признаки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3390900" y="2028825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Характеристики объекта, по которым модель делает прогноз.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3390900" y="2800350"/>
            <a:ext cx="2324100" cy="4572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3390900" y="28003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Функция потерь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3390900" y="3105150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Ошибка на одном объекте.</a:t>
            </a:r>
            <a:endParaRPr lang="en-US" sz="855" dirty="0"/>
          </a:p>
        </p:txBody>
      </p:sp>
      <p:sp>
        <p:nvSpPr>
          <p:cNvPr id="8" name="Shape 6"/>
          <p:cNvSpPr/>
          <p:nvPr/>
        </p:nvSpPr>
        <p:spPr>
          <a:xfrm>
            <a:off x="609600" y="1724025"/>
            <a:ext cx="2324100" cy="60960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609600" y="17240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609600" y="2028825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строка данных: например, одно вино или один пассажир.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609600" y="2800350"/>
            <a:ext cx="2324100" cy="609600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09600" y="28003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</a:t>
            </a:r>
            <a:endParaRPr lang="en-US" sz="1283" dirty="0"/>
          </a:p>
        </p:txBody>
      </p:sp>
      <p:sp>
        <p:nvSpPr>
          <p:cNvPr id="13" name="Text 11"/>
          <p:cNvSpPr/>
          <p:nvPr/>
        </p:nvSpPr>
        <p:spPr>
          <a:xfrm>
            <a:off x="609600" y="3105150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Функция, которая по признакам выдаёт предсказание.</a:t>
            </a:r>
            <a:endParaRPr lang="en-US" sz="855" dirty="0"/>
          </a:p>
        </p:txBody>
      </p:sp>
      <p:sp>
        <p:nvSpPr>
          <p:cNvPr id="14" name="Shape 12"/>
          <p:cNvSpPr/>
          <p:nvPr/>
        </p:nvSpPr>
        <p:spPr>
          <a:xfrm>
            <a:off x="6210300" y="1724025"/>
            <a:ext cx="2324100" cy="609600"/>
          </a:xfrm>
          <a:prstGeom prst="rect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6210300" y="172402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Целевая переменная</a:t>
            </a:r>
            <a:endParaRPr lang="en-US" sz="1283" dirty="0"/>
          </a:p>
        </p:txBody>
      </p:sp>
      <p:sp>
        <p:nvSpPr>
          <p:cNvPr id="16" name="Text 14"/>
          <p:cNvSpPr/>
          <p:nvPr/>
        </p:nvSpPr>
        <p:spPr>
          <a:xfrm>
            <a:off x="6210300" y="2028825"/>
            <a:ext cx="232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То, что предсказываем: число в регрессии или класс в классификации.</a:t>
            </a:r>
            <a:endParaRPr lang="en-US" sz="855" dirty="0"/>
          </a:p>
        </p:txBody>
      </p:sp>
      <p:sp>
        <p:nvSpPr>
          <p:cNvPr id="17" name="Shape 15"/>
          <p:cNvSpPr/>
          <p:nvPr/>
        </p:nvSpPr>
        <p:spPr>
          <a:xfrm>
            <a:off x="6210300" y="2800350"/>
            <a:ext cx="2324100" cy="457200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6210300" y="280035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Функционал ошибки</a:t>
            </a:r>
            <a:endParaRPr lang="en-US" sz="1283" dirty="0"/>
          </a:p>
        </p:txBody>
      </p:sp>
      <p:sp>
        <p:nvSpPr>
          <p:cNvPr id="19" name="Text 17"/>
          <p:cNvSpPr/>
          <p:nvPr/>
        </p:nvSpPr>
        <p:spPr>
          <a:xfrm>
            <a:off x="6210300" y="3105150"/>
            <a:ext cx="2324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Средняя ошибка по выборке.</a:t>
            </a:r>
            <a:endParaRPr lang="en-US" sz="855" dirty="0"/>
          </a:p>
        </p:txBody>
      </p:sp>
      <p:sp>
        <p:nvSpPr>
          <p:cNvPr id="20" name="Text 18"/>
          <p:cNvSpPr/>
          <p:nvPr/>
        </p:nvSpPr>
        <p:spPr>
          <a:xfrm>
            <a:off x="609600" y="609600"/>
            <a:ext cx="7924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Словарь</a:t>
            </a:r>
            <a:endParaRPr lang="en-US" sz="1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Регрессия — задача, где целевая переменная является числом.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9600" y="1304925"/>
            <a:ext cx="2438400" cy="3228975"/>
          </a:xfrm>
          <a:prstGeom prst="roundRect">
            <a:avLst>
              <a:gd name="adj" fmla="val 6000"/>
            </a:avLst>
          </a:prstGeom>
          <a:solidFill>
            <a:srgbClr val="CFCFCF"/>
          </a:solidFill>
          <a:ln/>
        </p:spPr>
      </p:sp>
      <p:sp>
        <p:nvSpPr>
          <p:cNvPr id="4" name="Text 2"/>
          <p:cNvSpPr/>
          <p:nvPr/>
        </p:nvSpPr>
        <p:spPr>
          <a:xfrm>
            <a:off x="838200" y="1495425"/>
            <a:ext cx="20081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Хотим узнать конкретную цену: например, 7,8 млн рублей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838200" y="3990975"/>
            <a:ext cx="200818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Цена квартиры</a:t>
            </a:r>
            <a:endParaRPr lang="en-US" sz="1710" dirty="0"/>
          </a:p>
        </p:txBody>
      </p:sp>
      <p:sp>
        <p:nvSpPr>
          <p:cNvPr id="6" name="Shape 4"/>
          <p:cNvSpPr/>
          <p:nvPr/>
        </p:nvSpPr>
        <p:spPr>
          <a:xfrm>
            <a:off x="3352800" y="1304925"/>
            <a:ext cx="2438400" cy="3228975"/>
          </a:xfrm>
          <a:prstGeom prst="roundRect">
            <a:avLst>
              <a:gd name="adj" fmla="val 6000"/>
            </a:avLst>
          </a:prstGeom>
          <a:solidFill>
            <a:srgbClr val="CFCFCF"/>
          </a:solidFill>
          <a:ln/>
        </p:spPr>
      </p:sp>
      <p:sp>
        <p:nvSpPr>
          <p:cNvPr id="7" name="Text 5"/>
          <p:cNvSpPr/>
          <p:nvPr/>
        </p:nvSpPr>
        <p:spPr>
          <a:xfrm>
            <a:off x="3581400" y="1495425"/>
            <a:ext cx="20081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Хотим предсказать конкретную температуру: например, +18,6 °C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581400" y="3990975"/>
            <a:ext cx="200818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Температура</a:t>
            </a:r>
            <a:endParaRPr lang="en-US" sz="1710" dirty="0"/>
          </a:p>
        </p:txBody>
      </p:sp>
      <p:sp>
        <p:nvSpPr>
          <p:cNvPr id="9" name="Shape 7"/>
          <p:cNvSpPr/>
          <p:nvPr/>
        </p:nvSpPr>
        <p:spPr>
          <a:xfrm>
            <a:off x="6096000" y="1304925"/>
            <a:ext cx="2438400" cy="3228975"/>
          </a:xfrm>
          <a:prstGeom prst="roundRect">
            <a:avLst>
              <a:gd name="adj" fmla="val 6000"/>
            </a:avLst>
          </a:prstGeom>
          <a:solidFill>
            <a:srgbClr val="CFCFCF"/>
          </a:solidFill>
          <a:ln/>
        </p:spPr>
      </p:sp>
      <p:sp>
        <p:nvSpPr>
          <p:cNvPr id="10" name="Text 8"/>
          <p:cNvSpPr/>
          <p:nvPr/>
        </p:nvSpPr>
        <p:spPr>
          <a:xfrm>
            <a:off x="6324600" y="1495425"/>
            <a:ext cx="20081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Хотим предсказать числовую оценку качества: например, 5, 6 или 7</a:t>
            </a:r>
            <a:endParaRPr lang="en-US" sz="1283" dirty="0"/>
          </a:p>
        </p:txBody>
      </p:sp>
      <p:sp>
        <p:nvSpPr>
          <p:cNvPr id="11" name="Text 9"/>
          <p:cNvSpPr/>
          <p:nvPr/>
        </p:nvSpPr>
        <p:spPr>
          <a:xfrm>
            <a:off x="6324600" y="3990975"/>
            <a:ext cx="200818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Качество вина</a:t>
            </a:r>
            <a:endParaRPr lang="en-US" sz="17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945481"/>
            <a:ext cx="3238500" cy="125253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945481"/>
            <a:ext cx="3238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Загрузка данных </a:t>
            </a:r>
            <a:endParaRPr lang="en-US" sz="1710" dirty="0"/>
          </a:p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быстрый взгляд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612231"/>
            <a:ext cx="32385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обучения модели нужно понять таблицу: размер, типы данных, пропуски, распределения и target.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404938"/>
            <a:ext cx="3986213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554956"/>
            <a:ext cx="3238500" cy="20335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554956"/>
            <a:ext cx="3238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/ test split: честная проверка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221706"/>
            <a:ext cx="32385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— это финальная проверка. Нельзя использовать ответы test для обучения, подбора параметров или preprocessing.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random_state фиксируем, чтобы эксперимент можно было воспроизвести и сравнить результаты.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266825"/>
            <a:ext cx="4157663" cy="26146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595438"/>
            <a:ext cx="3238500" cy="19526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595438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и метрики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1985963"/>
            <a:ext cx="3238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Зачем baseline?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 Если сложная модель не лучше среднего значения, значит она не извлекла полезной информации из признаков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Метрики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 проще интерпретировать. RMSE сильнее штрафует большие ошибки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29100" y="1514475"/>
            <a:ext cx="4700588" cy="21193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750219"/>
            <a:ext cx="7048500" cy="164306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750219"/>
            <a:ext cx="70485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b="1" spc="-68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ŷ = w₀ + w₁x₁ + w₂x₂ + … + wₙxₙ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609600" y="2412206"/>
            <a:ext cx="7048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- признаки объекта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- коэффициенты модели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ŷ - предсказанное значение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9600" y="3240881"/>
            <a:ext cx="7048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Коэффициенты можно интерпретировать, но они не доказывают причинность</a:t>
            </a:r>
            <a:endParaRPr lang="en-US" sz="85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497806"/>
            <a:ext cx="3238500" cy="21478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497806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Regression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1888331"/>
            <a:ext cx="3238500" cy="17573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смотреть? 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качество на train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качество на test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разрыв train/test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лучше ли baseline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Вопрос группе!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хорошая ошибка на train 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ещё не означает хорошую модель?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3837" y="1433513"/>
            <a:ext cx="5020763" cy="22812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400175"/>
            <a:ext cx="3238500" cy="23431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400175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Коэффициенты модели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1790700"/>
            <a:ext cx="323850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Интерпретация 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Знак коэффициента показывает направление связи внутри модели. Но величины коэффициентов нельзя честно сравнивать, если признаки в разных масштабах.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Ловушка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Большой коэффициент может быть следствием маленького масштаба признака, а не «важности».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48150" y="1504950"/>
            <a:ext cx="4614863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Переобучение</a:t>
            </a:r>
            <a:endParaRPr lang="en-US" sz="1710" dirty="0"/>
          </a:p>
        </p:txBody>
      </p:sp>
      <p:sp>
        <p:nvSpPr>
          <p:cNvPr id="3" name="Text 1"/>
          <p:cNvSpPr/>
          <p:nvPr/>
        </p:nvSpPr>
        <p:spPr>
          <a:xfrm>
            <a:off x="609600" y="4076700"/>
            <a:ext cx="5600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Отслеживаем по разрыву между train и test.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Используем кросс-валидацию для более устойчивой оценки.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Регуляризация ограничивает сложность линейной модели.</a:t>
            </a:r>
            <a:endParaRPr lang="en-US" sz="85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2185988"/>
            <a:ext cx="7924800" cy="768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600" y="1042988"/>
            <a:ext cx="562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запоминает train, но плохо работает на новых данных.</a:t>
            </a:r>
            <a:endParaRPr lang="en-US" sz="128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595438"/>
            <a:ext cx="3238500" cy="19526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595438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Масштабирование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1985963"/>
            <a:ext cx="3238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это важно? 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и Lasso штрафуют коэффициенты. Без масштабирования признаки разных масштабов штрафуются несопоставимо.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Корректный порядок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split, потом scaler.fit на train, затем transform для train и test.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86250" y="1490663"/>
            <a:ext cx="4657725" cy="21669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595438"/>
            <a:ext cx="3238500" cy="19526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595438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Масштабирование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1985963"/>
            <a:ext cx="3238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это важно? 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и Lasso штрафуют коэффициенты. Без масштабирования признаки разных масштабов штрафуются несопоставимо.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Корректный порядок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split, потом scaler.fit на train, затем transform для train и test.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86250" y="1490663"/>
            <a:ext cx="4657725" cy="21669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и Lasso: L2 и L1 регуляризация</a:t>
            </a:r>
            <a:endParaRPr lang="en-US" sz="1710" dirty="0"/>
          </a:p>
        </p:txBody>
      </p:sp>
      <p:sp>
        <p:nvSpPr>
          <p:cNvPr id="3" name="Shape 1"/>
          <p:cNvSpPr/>
          <p:nvPr/>
        </p:nvSpPr>
        <p:spPr>
          <a:xfrm>
            <a:off x="609600" y="2190750"/>
            <a:ext cx="3038475" cy="9144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09600" y="2190750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= L2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609600" y="2495550"/>
            <a:ext cx="3038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MSE + α · Σw²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Уменьшает коэффициенты. Обычно не зануляет признаки полностью.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5486400" y="2190750"/>
            <a:ext cx="2871788" cy="9144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5486400" y="2190750"/>
            <a:ext cx="2871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Lasso = L1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5486400" y="2495550"/>
            <a:ext cx="287178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MSE + α · Σ|w|</a:t>
            </a:r>
            <a:endParaRPr lang="en-US" sz="855" dirty="0"/>
          </a:p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Может занулять коэффициенты и использоваться как отбор признаков.</a:t>
            </a:r>
            <a:endParaRPr lang="en-US" sz="855" dirty="0"/>
          </a:p>
        </p:txBody>
      </p:sp>
      <p:sp>
        <p:nvSpPr>
          <p:cNvPr id="9" name="Text 7"/>
          <p:cNvSpPr/>
          <p:nvPr/>
        </p:nvSpPr>
        <p:spPr>
          <a:xfrm>
            <a:off x="609600" y="1042988"/>
            <a:ext cx="56292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α управляет силой регуляризации: слишком мало — почти нет эффекта, слишком много — недообучение.</a:t>
            </a:r>
            <a:endParaRPr lang="en-US" sz="128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497806"/>
            <a:ext cx="3238500" cy="2147888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497806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+ Ridge/Lasso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1888331"/>
            <a:ext cx="3238500" cy="175736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Зачем Pipeline? 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 гарантирует правильный порядок preprocessing → model и снижает риск утечки данных.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практике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лабораторных лучше писать так, чтобы эксперимент можно было повторить без ручных действий.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52913" y="1204913"/>
            <a:ext cx="4643438" cy="28336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693069"/>
            <a:ext cx="3238500" cy="175736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693069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влияет alpha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083594"/>
            <a:ext cx="3238500" cy="136683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должно быть видно? 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росте alpha коэффициенты сжимаются. Ошибка на train обычно растёт, а test может сначала улучшиться, затем ухудшиться.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Вопрос группе!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недообучение? Где переобучение?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71950" y="1195388"/>
            <a:ext cx="4629150" cy="28527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457325"/>
            <a:ext cx="3238500" cy="2228850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457325"/>
            <a:ext cx="32385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Итоговое сравнение моделей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2124075"/>
            <a:ext cx="3238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Выводы 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достаточно сказать «модель лучше». Нужно объяснить: насколько лучше baseline, где ошибается и почему.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Логика лабораторной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моделей → feature importance → анализ ошибок → вывод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81475" y="1000125"/>
            <a:ext cx="4710113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595438"/>
            <a:ext cx="3238500" cy="19526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595438"/>
            <a:ext cx="3238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Кросс-валидация как идея</a:t>
            </a:r>
            <a:endParaRPr lang="en-US" sz="1710" dirty="0"/>
          </a:p>
        </p:txBody>
      </p:sp>
      <p:sp>
        <p:nvSpPr>
          <p:cNvPr id="4" name="Text 2"/>
          <p:cNvSpPr/>
          <p:nvPr/>
        </p:nvSpPr>
        <p:spPr>
          <a:xfrm>
            <a:off x="609600" y="1985963"/>
            <a:ext cx="3238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Выводы 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достаточно сказать «модель лучше». Нужно объяснить: насколько лучше baseline, где ошибается и почему.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Логика лабораторной</a:t>
            </a:r>
            <a:endParaRPr lang="en-US" sz="1069" dirty="0"/>
          </a:p>
          <a:p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Таблица моделей → feature importance → анализ ошибок → вывод</a:t>
            </a:r>
            <a:endParaRPr lang="en-US" sz="1069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24325" y="1419225"/>
            <a:ext cx="4724400" cy="26908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75438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710" b="1" spc="-34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лабораторная</a:t>
            </a:r>
            <a:endParaRPr lang="en-US" sz="171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09850" y="966788"/>
            <a:ext cx="3924300" cy="392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2026-10-01T19:11:41Z</dcterms:created>
  <dcterms:modified xsi:type="dcterms:W3CDTF">2026-10-01T19:11:41Z</dcterms:modified>
</cp:coreProperties>
</file>